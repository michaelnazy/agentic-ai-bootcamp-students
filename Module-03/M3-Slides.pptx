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400E-877A-3DE6-75BB-A1EF86314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C3D09-91E3-1963-2F51-36962FE1A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6608D-E25E-ADF0-1765-9540D3DB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69EF4-5B83-39F9-7417-7204B00AA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D7AF2-C3D2-8D27-EF52-06357217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0A7BD-EADE-A130-3796-3D7AD949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09B0B-5FCA-ABA4-C3CA-2A950EA30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F61E3-8B82-4404-DDF0-CA757780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4EDB0-A8B0-2266-C732-07463018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139A6-3728-A564-BE08-EC75C345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7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8855-730E-1976-C72B-39730CF7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B3C48-090D-7FE8-217E-60B504B40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2B420-E358-9C52-1D79-CB1DFE8D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1741F-B0BD-5204-4931-67BAB46D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A8340-A38A-989C-0AD8-B276257D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1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A4FA6-CEAA-3159-C9CA-1D33DD11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83150-17BC-5CB7-97C9-3AE78A901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69567-C374-63E5-F075-3AE9B9DA3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DD613-837F-DB6A-EC54-6643D014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0685A-5138-3D0D-A710-7A332842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35ABD-F5FB-29FD-F16C-87DF8BAB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2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70CA-3E96-B87B-6BEE-2B905E78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08D71-FB66-7770-B906-4AAF40AAE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5A6BD-925C-0953-F562-BF1AA0DEC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0C156-B1AB-7B71-3816-AD723A8F8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B8171-6ADA-C8F1-2DD6-4134C3250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15B1C-FF5E-560E-F759-AC6C3FFE0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6EBA6-DF87-3DF0-3414-7C613D237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FC83B2-BE6E-44C7-24EC-F01CAE88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4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918D-F4C8-D10C-6ED0-B1B22303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554AA-B3B8-0C15-1193-1CAB3225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4A438-5038-0D83-165E-94141A3F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8FE4D-97AE-A96A-0C2F-182D6943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3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CFBBA8-1F74-7090-48E4-7025A5AD8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984D1-0149-35CE-BBE8-EE8D92B81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A2E52-0813-4F3B-BB4D-724CFF3E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9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DE8B-20F6-108F-DF42-6800F146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DA3F6-09EC-88C7-8617-6B46E1342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E08D9-8B39-DFDF-044C-BE4713DAF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ED83B-B768-EC4D-998B-02519E78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26E8A-6F78-99F3-DABD-ECFAE926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612A8-1753-3AE0-05D8-793BB001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40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F6CD-AF1D-DC81-954E-68C95FAB5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8E5EC-3D9E-9B14-598C-95976BF7C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6D45D-1BD8-27DC-AC9C-C81A3AC24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47DEF-5766-1D7B-240C-3BBDC2F9F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C0E1D-7B9F-31D1-1F1F-DA416D1C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C3A30-6C89-8585-6A51-63868690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1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01FA-D3C4-07F0-FFEE-F954599B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47023-77CF-96E4-727C-5EB33508D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ABF84-EF62-778F-9DC0-1692D809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7EC10-2FA0-FC04-1510-5E507DB2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1C74A-9635-2897-04C4-6120036E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0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CAB81C-7D22-0F1E-E522-3916F3C22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DC496-7104-E430-7F7F-B1F0A9E64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998E-95DE-1778-E507-7F2512F5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5A88D-F1CF-2D5B-D776-65165C1B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F2573-C4E7-421A-AF82-2A81BD4C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083C2-35A9-2006-D067-5387BF38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00B08-011A-0798-0B5A-7A0AB52B5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B073D-51C9-6F5C-DBD2-DD56C6343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F0113-3FCF-40C8-9DA1-B62EA4FDCD5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3B26E-CA6B-C029-5B5A-42F41F5B1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7CDBD-E38A-2DAA-33BA-486D8ADCB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6F4A4-12C6-4CF1-A31D-BA25945A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2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nut 4"/>
          <p:cNvSpPr/>
          <p:nvPr/>
        </p:nvSpPr>
        <p:spPr>
          <a:xfrm>
            <a:off x="822960" y="2468880"/>
            <a:ext cx="2560320" cy="2560320"/>
          </a:xfrm>
          <a:prstGeom prst="donut">
            <a:avLst>
              <a:gd name="adj" fmla="val 12000"/>
            </a:avLst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594360"/>
            <a:ext cx="4206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jh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877824"/>
            <a:ext cx="1645920" cy="2565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97480" y="777240"/>
            <a:ext cx="10972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mce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749808"/>
            <a:ext cx="603504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37160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C3D4"/>
                </a:solidFill>
                <a:latin typeface="Trebuchet MS"/>
              </a:rPr>
              <a:t>PHASE 2 · CORE AGENT DESIGN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7223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FFFFF"/>
                </a:solidFill>
                <a:latin typeface="Trebuchet MS"/>
              </a:rPr>
              <a:t>ReAct, Planning &amp; Tool-Use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7D8E8"/>
                </a:solidFill>
                <a:latin typeface="Calibri"/>
              </a:rPr>
              <a:t>Rebuild the agent properly in LangGraph — with structured outputs and a planner that decomposes multi-step goals.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24528"/>
            <a:ext cx="3108960" cy="320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Module 3  ·  5 hours  ·  ReAct + Planning in 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4406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97AE"/>
                </a:solidFill>
                <a:latin typeface="Calibri"/>
              </a:rPr>
              <a:t>Lead Trainers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65099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Alaaldin Ahmed   ·   Mohammed Abu Alhalaweih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9893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E97AE"/>
                </a:solidFill>
                <a:latin typeface="Calibri"/>
              </a:rPr>
              <a:t>Jerusalem High-Tech Foundry (JHF)  ·  In partnership with COMCEC</a:t>
            </a:r>
          </a:p>
        </p:txBody>
      </p:sp>
    </p:spTree>
    <p:extLst>
      <p:ext uri="{BB962C8B-B14F-4D97-AF65-F5344CB8AC3E}">
        <p14:creationId xmlns:p14="http://schemas.microsoft.com/office/powerpoint/2010/main" val="148367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After this module, you can…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194560"/>
            <a:ext cx="868680" cy="8686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Implement ReAct (reason → act → observe) as an explicit LangGraph 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56248" y="2194560"/>
            <a:ext cx="868680" cy="86868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Use structured outputs as the reliable action interface — no fragile JSON parsing.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3977639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Implement Planning (plan-and-execute): decompose, run steps, replan.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56248" y="3977639"/>
            <a:ext cx="868680" cy="86868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Design prompts and error recovery for reliable action selection.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3 · ReAct, Planning &amp; Tool-Use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203173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1 · THE REACT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ReAct as an explicit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33172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30452" y="2395728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LLM picks an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743200"/>
            <a:ext cx="57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8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59480" y="2194560"/>
            <a:ext cx="233172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41292" y="2395728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92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92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your code runs a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2743200"/>
            <a:ext cx="57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032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70320" y="2194560"/>
            <a:ext cx="233172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52132" y="2395728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76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OBSERVE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76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result →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2040" y="2743200"/>
            <a:ext cx="57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81160" y="2194560"/>
            <a:ext cx="2331720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62972" y="2395728"/>
            <a:ext cx="768096" cy="7680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until final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Node = a step; edge = control flow; conditional edge = the branch.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5604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The framework owns the loop; you own the nodes and the routing.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3 · ReAct, Planning &amp; Tool-Use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17453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2 · STRUCTURED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The reliability upgrade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852160" cy="35661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8521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47"/>
                </a:solidFill>
                <a:latin typeface="Trebuchet MS"/>
              </a:rPr>
              <a:t>M1 (manual parsing)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43200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json.loads(strip_fences(raw)) — brittle.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10128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2783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Crashes on malformed JSON.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77056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Fights the model with “ONLY JSON” prompts.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828800"/>
            <a:ext cx="5029200" cy="356616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1828800"/>
            <a:ext cx="50292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Trebuchet MS"/>
              </a:rPr>
              <a:t>M3 (structured)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34640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llm.with_structured_output(Action).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38144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Schema-validated &amp; parsed for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04164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Define an Action(tool, args) once.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645152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Guarantees the SHAPE — not the truth.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3 · ReAct, Planning &amp; Tool-Use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240449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3 ·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Plan-and-execute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33172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30452" y="2395728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goal →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743200"/>
            <a:ext cx="20345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490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14900" y="2194560"/>
            <a:ext cx="233172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96712" y="2395728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634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634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run a step (ReAct)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6620" y="2743200"/>
            <a:ext cx="20345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60" y="2194560"/>
            <a:ext cx="233172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62972" y="2395728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REPLAN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finish or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Planning boosts reliability on hard tasks — but costs more LLM calls.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Use the least agency that works: a single lookup doesn’t need a planner.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3 · ReAct, Planning &amp; Tool-Use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3932887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Trebuchet MS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ReAct + Planning agent in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C7D8E8"/>
                </a:solidFill>
                <a:latin typeface="Calibri"/>
              </a:rPr>
              <a:t>Build a graph-based agent that decomposes multi-step questions, uses structured outputs, executes with tools, and replans.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91672" cy="1234440"/>
          </a:xfrm>
          <a:prstGeom prst="roundRect">
            <a:avLst/>
          </a:prstGeom>
          <a:solidFill>
            <a:srgbClr val="143A5E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A623"/>
                </a:solidFill>
                <a:latin typeface="Trebuchet MS"/>
              </a:rPr>
              <a:t>DEFINITION OF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FFFFFF"/>
                </a:solidFill>
                <a:latin typeface="Calibri"/>
              </a:rPr>
              <a:t>For a 3-sprint average question, the agent plans → executes with the calculator → replans → answers “13, yes” — and you can show the graph.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M3-Lab-Worksheet.md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Step-by-step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73952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starter-code/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react_agent_starter.py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3 · ReAct, Planning &amp; Tool-Use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211205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Key terms to take 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Reason → Act → Observe loop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54296" y="213055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2664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3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The shared object threaded through graph nodes.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19" y="213055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Conditional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A runtime branch chosen by a routing function.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Structured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Schema-constrained, validated model output.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54296" y="437083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Plan-and-execute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Planner decomposes → executor runs → replan.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03919" y="437083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Scratchpad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The running record of steps/observations in state.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3 · ReAct, Planning &amp; Tool-Use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165327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C3D4"/>
                </a:solidFill>
                <a:latin typeface="Trebuchet MS"/>
              </a:rPr>
              <a:t>CHECK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Quick Quiz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38528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What do Reason, Act, and Observe mean in practice?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96896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Define a node, an edge, and a conditional edge.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36976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5526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What M1 problem do structured outputs eliminate?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13631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True/False: structured outputs guarantee the answer is correct.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53712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71999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Describe the three roles in plan-and-execute.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11091672" cy="548640"/>
          </a:xfrm>
          <a:prstGeom prst="roundRect">
            <a:avLst/>
          </a:prstGeom>
          <a:solidFill>
            <a:srgbClr val="143A5E"/>
          </a:solidFill>
          <a:ln w="12700">
            <a:solidFill>
              <a:srgbClr val="18C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Next:   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Module 4 — Reflection, Self-Critique &amp; Robustness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3 · ReAct, Planning &amp; Tool-Use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690648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Custom</PresentationFormat>
  <Paragraphs>136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Alaaldin Ahmed</dc:creator>
  <cp:lastModifiedBy>Alaaldin Ahmed</cp:lastModifiedBy>
  <cp:revision>1</cp:revision>
  <dcterms:created xsi:type="dcterms:W3CDTF">2026-07-31T12:55:59Z</dcterms:created>
  <dcterms:modified xsi:type="dcterms:W3CDTF">2026-07-31T12:55:59Z</dcterms:modified>
</cp:coreProperties>
</file>