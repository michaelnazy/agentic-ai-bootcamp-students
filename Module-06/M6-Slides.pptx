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7D9BC6-9FDB-93AB-CFD7-63FD159D7C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ACD7AB-CF4A-80F1-C093-61E00CD80D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572C8A-0D75-72F1-DAE8-E7DBF60F8F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90779-28FE-45A8-92CD-148B86CCEFAA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D18731-F9AB-3902-0C8C-5C035AF58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6A755E-8162-A2F9-5B44-69FF917083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96825-F9B7-478D-9D6B-2AD7FCBCE6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0114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40AC4-2C36-CE8B-120D-4254546F16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42D78A-8D27-C9A0-0AC4-801A56F1CD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741506-00ED-F01F-F8CA-02C62E5AF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90779-28FE-45A8-92CD-148B86CCEFAA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E06DAF-DDD1-E4BD-9C73-45E13D6C60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FB7FDA-B46D-1AE3-18AC-2D3F5ACC6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96825-F9B7-478D-9D6B-2AD7FCBCE6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9602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A6B102-76A9-A876-09E0-3A448BC468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C6957D-DBB4-814D-7B11-F0EFC44E4F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1F346D-F045-E01A-27C1-2F69527C02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90779-28FE-45A8-92CD-148B86CCEFAA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CCB7E2-8363-CCDF-11AC-369F040C4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303DC2-9A71-1101-7EC1-C2F897D48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96825-F9B7-478D-9D6B-2AD7FCBCE6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9700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227B4-4471-23D7-76ED-309919A579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70B15D-4416-AD48-F703-FACE641CD6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2F2894-5034-FA91-B19B-61F44D4065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45BD6C-ABBC-0AEF-99BD-904B723A9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90779-28FE-45A8-92CD-148B86CCEFAA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5C815A-313B-6370-148B-FF19BDA135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4DB301-DA2D-3C7F-7C06-8D639A99B9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96825-F9B7-478D-9D6B-2AD7FCBCE6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06198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77033-3100-5258-726E-941BD50DC8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F12FED-A363-3D5D-DC85-3553BA4437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89EC60-7C13-51E5-44E5-FA9F3B7C19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AEED1D-DD2F-9469-7A7D-C554F86A15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45B641-52A8-ACD6-4C19-04E6FC7F5B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CA3F861-7074-6F30-CD5B-EAF774539F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90779-28FE-45A8-92CD-148B86CCEFAA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EFC5FE4-6C3A-3C86-BB2E-AFB458D3B8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16834BD-FF39-DABD-6A9C-9DAE016E6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96825-F9B7-478D-9D6B-2AD7FCBCE6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7446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50723B-C0BB-FCC2-1A1C-29645D6F52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8B8440E-ED66-7E12-AD65-F8CDC0BAA6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90779-28FE-45A8-92CD-148B86CCEFAA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D3C9B56-AE02-450E-F727-CCCCF6F94B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87E729-6997-DF79-84FB-4F3F3DBD4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96825-F9B7-478D-9D6B-2AD7FCBCE6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49915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DCDA6C9-8715-2F85-473D-FAF455F7B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90779-28FE-45A8-92CD-148B86CCEFAA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E9ABA9-8BD4-DA0C-34FB-5E3FA8E1E2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9DF303-9835-BC77-D8B6-5692EA95F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96825-F9B7-478D-9D6B-2AD7FCBCE6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0422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A3308B-8B15-C23E-EAB2-61C49723C2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452FB5-26A7-369D-29F2-A6C7B5FDB3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EA921F-70FA-07E8-4256-4CB4864B4C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90FD39-5A85-EA0C-14C9-86F4E43D6F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90779-28FE-45A8-92CD-148B86CCEFAA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8562F4-2166-27AF-F563-2FDF7AC2F1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6BE5A4-7F07-A3ED-6920-D0014420A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96825-F9B7-478D-9D6B-2AD7FCBCE6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25278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70CCD3-C7D3-6B6F-4C9C-03A5D58459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C551114-E7FA-CF2D-4BFB-163355507CC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9B8C15-7875-AD7D-D5D8-C13D1462CA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B8FB8E-84A0-4617-8992-8EC512F1AD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90779-28FE-45A8-92CD-148B86CCEFAA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D3BB7A-4CBF-AB18-A66C-47809C889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29E156-A132-AE67-27A7-73EE8B307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96825-F9B7-478D-9D6B-2AD7FCBCE6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5732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D043ED-7B9D-A63C-2783-02A8A71193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76B56E-3742-DF71-FF1D-EBFD398CF5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934974-94CF-361D-A6C1-1DDAB3EAA3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90779-28FE-45A8-92CD-148B86CCEFAA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06F57F-7BE0-9BF2-824E-011DA19C30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8E729D-FD52-879A-A90F-D2BA2AE96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96825-F9B7-478D-9D6B-2AD7FCBCE6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200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65C2087-8CE7-CBC0-659D-FB0C230376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5C585A-B05C-438C-8E2E-4E40FC52E1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CED435-ACF4-B1B5-F9C8-9D34D25A7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90779-28FE-45A8-92CD-148B86CCEFAA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70C50D-FD5A-DFB0-EF99-56BB88D563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545B35-488F-FDCF-7C9F-B22C4D023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96825-F9B7-478D-9D6B-2AD7FCBCE6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15032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13DF456-B30A-8DE1-93AD-29A1E4939B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636797-976A-53DB-7BF4-A440EFEE17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69624F-13DE-8DC1-BC79-046B4FDED4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C90779-28FE-45A8-92CD-148B86CCEFAA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BFFD89-E3DA-8AA5-E932-CA7B623E32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5F8772-7F75-8F3B-7C92-51E038E39A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B96825-F9B7-478D-9D6B-2AD7FCBCE6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1385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8C3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4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Donut 4"/>
          <p:cNvSpPr/>
          <p:nvPr/>
        </p:nvSpPr>
        <p:spPr>
          <a:xfrm>
            <a:off x="822960" y="2468880"/>
            <a:ext cx="2560320" cy="2560320"/>
          </a:xfrm>
          <a:prstGeom prst="donut">
            <a:avLst>
              <a:gd name="adj" fmla="val 12000"/>
            </a:avLst>
          </a:prstGeom>
          <a:solidFill>
            <a:srgbClr val="18C3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594360"/>
            <a:ext cx="420624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jhf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877824"/>
            <a:ext cx="1645920" cy="256524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697480" y="777240"/>
            <a:ext cx="10972" cy="54864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comcec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1800" y="749808"/>
            <a:ext cx="603504" cy="60350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63440" y="1371600"/>
            <a:ext cx="7040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8C3D4"/>
                </a:solidFill>
                <a:latin typeface="Trebuchet MS"/>
              </a:rPr>
              <a:t>PHASE 3 · TOOL USE, INTEGRATIONS &amp; MEMORY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1783080"/>
            <a:ext cx="722376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4400" b="1">
                <a:solidFill>
                  <a:srgbClr val="FFFFFF"/>
                </a:solidFill>
                <a:latin typeface="Trebuchet MS"/>
              </a:rPr>
              <a:t>Memory Systems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3291840"/>
            <a:ext cx="69494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>
                <a:solidFill>
                  <a:srgbClr val="C7D8E8"/>
                </a:solidFill>
                <a:latin typeface="Calibri"/>
              </a:rPr>
              <a:t>Short-term working memory and long-term recall with vector stores — so your agent learns and remembers across sessions.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63440" y="4224528"/>
            <a:ext cx="3108960" cy="32004"/>
          </a:xfrm>
          <a:prstGeom prst="rect">
            <a:avLst/>
          </a:prstGeom>
          <a:solidFill>
            <a:srgbClr val="18C3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63440" y="4389120"/>
            <a:ext cx="6949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Module 6  ·  5 hours  ·  Personal Knowledge Assistant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5440680"/>
            <a:ext cx="6949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7E97AE"/>
                </a:solidFill>
                <a:latin typeface="Calibri"/>
              </a:rPr>
              <a:t>Lead Trainers  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5650992"/>
            <a:ext cx="6949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8C3D4"/>
                </a:solidFill>
                <a:latin typeface="Calibri"/>
              </a:rPr>
              <a:t>Alaaldin Ahmed   ·   Mohammed Abu Alhalaweih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5989320"/>
            <a:ext cx="6949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7E97AE"/>
                </a:solidFill>
                <a:latin typeface="Calibri"/>
              </a:rPr>
              <a:t>Jerusalem High-Tech Foundry (JHF)  ·  In partnership with COMCEC</a:t>
            </a:r>
          </a:p>
        </p:txBody>
      </p:sp>
    </p:spTree>
    <p:extLst>
      <p:ext uri="{BB962C8B-B14F-4D97-AF65-F5344CB8AC3E}">
        <p14:creationId xmlns:p14="http://schemas.microsoft.com/office/powerpoint/2010/main" val="4207683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78D4"/>
                </a:solidFill>
                <a:latin typeface="Trebuchet MS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49808"/>
            <a:ext cx="111556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2A47"/>
                </a:solidFill>
                <a:latin typeface="Trebuchet MS"/>
              </a:rPr>
              <a:t>After this module, you can…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74519"/>
            <a:ext cx="5349240" cy="155448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22959" y="2194560"/>
            <a:ext cx="868680" cy="868680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3000" b="1">
                <a:solidFill>
                  <a:srgbClr val="FFFFFF"/>
                </a:solidFill>
                <a:latin typeface="Trebuchet M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2167127"/>
            <a:ext cx="3749039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500" b="1">
                <a:solidFill>
                  <a:srgbClr val="1E293B"/>
                </a:solidFill>
                <a:latin typeface="Calibri"/>
              </a:rPr>
              <a:t>Implement short-term memory: conversation buffer + summarization.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81928" y="1874519"/>
            <a:ext cx="5349240" cy="155448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6556248" y="2194560"/>
            <a:ext cx="868680" cy="868680"/>
          </a:xfrm>
          <a:prstGeom prst="ellipse">
            <a:avLst/>
          </a:prstGeom>
          <a:solidFill>
            <a:srgbClr val="18C3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3000" b="1">
                <a:solidFill>
                  <a:srgbClr val="FFFFFF"/>
                </a:solidFill>
                <a:latin typeface="Trebuchet M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53528" y="2167127"/>
            <a:ext cx="3749039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500" b="1">
                <a:solidFill>
                  <a:srgbClr val="1E293B"/>
                </a:solidFill>
                <a:latin typeface="Calibri"/>
              </a:rPr>
              <a:t>Implement long-term memory: embed + store + retrieve from a vector DB.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657600"/>
            <a:ext cx="5349240" cy="155448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822959" y="3977639"/>
            <a:ext cx="868680" cy="86868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3000" b="1">
                <a:solidFill>
                  <a:srgbClr val="FFFFFF"/>
                </a:solidFill>
                <a:latin typeface="Trebuchet MS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3950208"/>
            <a:ext cx="3749039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500" b="1">
                <a:solidFill>
                  <a:srgbClr val="1E293B"/>
                </a:solidFill>
                <a:latin typeface="Calibri"/>
              </a:rPr>
              <a:t>Design memory policies: what to write, summarize, and forget.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81928" y="3657600"/>
            <a:ext cx="5349240" cy="155448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556248" y="3977639"/>
            <a:ext cx="868680" cy="868680"/>
          </a:xfrm>
          <a:prstGeom prst="ellipse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3000" b="1">
                <a:solidFill>
                  <a:srgbClr val="FFFFFF"/>
                </a:solidFill>
                <a:latin typeface="Trebuchet MS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53528" y="3950208"/>
            <a:ext cx="3749039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500" b="1">
                <a:solidFill>
                  <a:srgbClr val="1E293B"/>
                </a:solidFill>
                <a:latin typeface="Calibri"/>
              </a:rPr>
              <a:t>Distinguish working, episodic, and semantic memory.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920" y="6419088"/>
            <a:ext cx="5943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078D4"/>
                </a:solidFill>
                <a:latin typeface="Calibri"/>
              </a:rPr>
              <a:t>Agentic AI Bootcamp   ·   JHF × COMCEC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0" y="641908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4748B"/>
                </a:solidFill>
                <a:latin typeface="Calibri"/>
              </a:rPr>
              <a:t>Module 6 · Memory Systems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19088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0078D4"/>
                </a:solidFill>
                <a:latin typeface="Calibri"/>
              </a:rPr>
              <a:t>2 / 8</a:t>
            </a:r>
          </a:p>
        </p:txBody>
      </p:sp>
    </p:spTree>
    <p:extLst>
      <p:ext uri="{BB962C8B-B14F-4D97-AF65-F5344CB8AC3E}">
        <p14:creationId xmlns:p14="http://schemas.microsoft.com/office/powerpoint/2010/main" val="10100047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78D4"/>
                </a:solidFill>
                <a:latin typeface="Trebuchet MS"/>
              </a:rPr>
              <a:t>1 · LONG-TERM MEMORY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49808"/>
            <a:ext cx="111556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2A47"/>
                </a:solidFill>
                <a:latin typeface="Trebuchet MS"/>
              </a:rPr>
              <a:t>Write &amp; read paths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94560"/>
            <a:ext cx="2331720" cy="173736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2194560"/>
            <a:ext cx="2331720" cy="109728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330452" y="2395728"/>
            <a:ext cx="768096" cy="768096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Trebuchet MS"/>
              </a:rPr>
              <a:t>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46120"/>
            <a:ext cx="21488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E2A47"/>
                </a:solidFill>
                <a:latin typeface="Trebuchet MS"/>
              </a:rPr>
              <a:t>EMBED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611880"/>
            <a:ext cx="21488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64748B"/>
                </a:solidFill>
                <a:latin typeface="Calibri"/>
              </a:rPr>
              <a:t>text → vector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2743200"/>
            <a:ext cx="5791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5A623"/>
                </a:solidFill>
                <a:latin typeface="Calibr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9480" y="2194560"/>
            <a:ext cx="2331720" cy="173736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459480" y="2194560"/>
            <a:ext cx="2331720" cy="109728"/>
          </a:xfrm>
          <a:prstGeom prst="rect">
            <a:avLst/>
          </a:prstGeom>
          <a:solidFill>
            <a:srgbClr val="18C3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241292" y="2395728"/>
            <a:ext cx="768096" cy="768096"/>
          </a:xfrm>
          <a:prstGeom prst="ellipse">
            <a:avLst/>
          </a:prstGeom>
          <a:solidFill>
            <a:srgbClr val="18C3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Trebuchet MS"/>
              </a:rPr>
              <a:t>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50920" y="3246120"/>
            <a:ext cx="21488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E2A47"/>
                </a:solidFill>
                <a:latin typeface="Trebuchet MS"/>
              </a:rPr>
              <a:t>STORE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50920" y="3611880"/>
            <a:ext cx="21488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64748B"/>
                </a:solidFill>
                <a:latin typeface="Calibri"/>
              </a:rPr>
              <a:t>vector DB + metadata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91200" y="2743200"/>
            <a:ext cx="5791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5A623"/>
                </a:solidFill>
                <a:latin typeface="Calibr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70320" y="2194560"/>
            <a:ext cx="2331720" cy="173736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370320" y="2194560"/>
            <a:ext cx="2331720" cy="10972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7152132" y="2395728"/>
            <a:ext cx="768096" cy="768096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Trebuchet MS"/>
              </a:rPr>
              <a:t>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61760" y="3246120"/>
            <a:ext cx="21488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E2A47"/>
                </a:solidFill>
                <a:latin typeface="Trebuchet MS"/>
              </a:rPr>
              <a:t>RETRIEVE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1760" y="3611880"/>
            <a:ext cx="21488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64748B"/>
                </a:solidFill>
                <a:latin typeface="Calibri"/>
              </a:rPr>
              <a:t>top-k on a query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02040" y="2743200"/>
            <a:ext cx="5791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5A623"/>
                </a:solidFill>
                <a:latin typeface="Calibri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81160" y="2194560"/>
            <a:ext cx="2331720" cy="173736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281160" y="2194560"/>
            <a:ext cx="2331720" cy="109728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10062972" y="2395728"/>
            <a:ext cx="768096" cy="768096"/>
          </a:xfrm>
          <a:prstGeom prst="ellipse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Trebuchet MS"/>
              </a:rPr>
              <a:t>↳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72600" y="3246120"/>
            <a:ext cx="21488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E2A47"/>
                </a:solidFill>
                <a:latin typeface="Trebuchet MS"/>
              </a:rPr>
              <a:t>INJECT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72600" y="3611880"/>
            <a:ext cx="21488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64748B"/>
                </a:solidFill>
                <a:latin typeface="Calibri"/>
              </a:rPr>
              <a:t>into context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438912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A623"/>
                </a:solidFill>
                <a:latin typeface="Calibri"/>
              </a:rPr>
              <a:t>→  </a:t>
            </a:r>
          </a:p>
          <a:p>
            <a:pPr algn="l">
              <a:lnSpc>
                <a:spcPct val="100000"/>
              </a:lnSpc>
            </a:pPr>
            <a:r>
              <a:rPr sz="1400" b="1">
                <a:solidFill>
                  <a:srgbClr val="1E293B"/>
                </a:solidFill>
                <a:latin typeface="Calibri"/>
              </a:rPr>
              <a:t>This is RAG used as memory — retrieval augments the prompt with past knowledge.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4956048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A623"/>
                </a:solidFill>
                <a:latin typeface="Calibri"/>
              </a:rPr>
              <a:t>→  </a:t>
            </a:r>
          </a:p>
          <a:p>
            <a:pPr algn="l">
              <a:lnSpc>
                <a:spcPct val="100000"/>
              </a:lnSpc>
            </a:pPr>
            <a:r>
              <a:rPr sz="1400" b="1">
                <a:solidFill>
                  <a:srgbClr val="1E293B"/>
                </a:solidFill>
                <a:latin typeface="Calibri"/>
              </a:rPr>
              <a:t>Persisted to disk → memory survives restarts and sessions.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02920" y="6419088"/>
            <a:ext cx="5943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078D4"/>
                </a:solidFill>
                <a:latin typeface="Calibri"/>
              </a:rPr>
              <a:t>Agentic AI Bootcamp   ·   JHF × COMCEC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35040" y="641908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4748B"/>
                </a:solidFill>
                <a:latin typeface="Calibri"/>
              </a:rPr>
              <a:t>Module 6 · Memory Systems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419088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0078D4"/>
                </a:solidFill>
                <a:latin typeface="Calibri"/>
              </a:rPr>
              <a:t>3 / 8</a:t>
            </a:r>
          </a:p>
        </p:txBody>
      </p:sp>
    </p:spTree>
    <p:extLst>
      <p:ext uri="{BB962C8B-B14F-4D97-AF65-F5344CB8AC3E}">
        <p14:creationId xmlns:p14="http://schemas.microsoft.com/office/powerpoint/2010/main" val="20025762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78D4"/>
                </a:solidFill>
                <a:latin typeface="Trebuchet MS"/>
              </a:rPr>
              <a:t>2 · MEMORY TYPES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49808"/>
            <a:ext cx="111556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2A47"/>
                </a:solidFill>
                <a:latin typeface="Trebuchet MS"/>
              </a:rPr>
              <a:t>A vocabulary for memory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3611880" cy="342900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3611880" cy="109728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965960" y="2148840"/>
            <a:ext cx="768096" cy="768096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Trebuchet MS"/>
              </a:rPr>
              <a:t>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017520"/>
            <a:ext cx="3246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0E2A47"/>
                </a:solidFill>
                <a:latin typeface="Trebuchet MS"/>
              </a:rPr>
              <a:t>Working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511296"/>
            <a:ext cx="3154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E293B"/>
                </a:solidFill>
                <a:latin typeface="Calibri"/>
              </a:rPr>
              <a:t>current task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4041648"/>
            <a:ext cx="306324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3000"/>
              </a:lnSpc>
            </a:pPr>
            <a:r>
              <a:rPr sz="1250" b="0">
                <a:solidFill>
                  <a:srgbClr val="1E293B"/>
                </a:solidFill>
                <a:latin typeface="Calibri"/>
              </a:rPr>
              <a:t>The active conversation buffer — recent turns held in context.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98264" y="1828800"/>
            <a:ext cx="3611880" cy="342900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98264" y="1828800"/>
            <a:ext cx="3611880" cy="109728"/>
          </a:xfrm>
          <a:prstGeom prst="rect">
            <a:avLst/>
          </a:prstGeom>
          <a:solidFill>
            <a:srgbClr val="18C3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5815583" y="2148840"/>
            <a:ext cx="768096" cy="768096"/>
          </a:xfrm>
          <a:prstGeom prst="ellipse">
            <a:avLst/>
          </a:prstGeom>
          <a:solidFill>
            <a:srgbClr val="18C3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Trebuchet MS"/>
              </a:rPr>
              <a:t>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1144" y="3017520"/>
            <a:ext cx="3246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0E2A47"/>
                </a:solidFill>
                <a:latin typeface="Trebuchet MS"/>
              </a:rPr>
              <a:t>Episodic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6864" y="3511296"/>
            <a:ext cx="3154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E293B"/>
                </a:solidFill>
                <a:latin typeface="Calibri"/>
              </a:rPr>
              <a:t>past events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72583" y="4041648"/>
            <a:ext cx="306324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3000"/>
              </a:lnSpc>
            </a:pPr>
            <a:r>
              <a:rPr sz="1250" b="0">
                <a:solidFill>
                  <a:srgbClr val="1E293B"/>
                </a:solidFill>
                <a:latin typeface="Calibri"/>
              </a:rPr>
              <a:t>Specific past interactions — “last week you asked about X.”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47888" y="1828800"/>
            <a:ext cx="3611880" cy="3429000"/>
          </a:xfrm>
          <a:prstGeom prst="round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247888" y="1828800"/>
            <a:ext cx="3611880" cy="10972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9665208" y="2148840"/>
            <a:ext cx="768096" cy="768096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Trebuchet MS"/>
              </a:rPr>
              <a:t>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0767" y="3017520"/>
            <a:ext cx="3246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Trebuchet MS"/>
              </a:rPr>
              <a:t>Semantic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76488" y="3511296"/>
            <a:ext cx="3154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DCE8F4"/>
                </a:solidFill>
                <a:latin typeface="Calibri"/>
              </a:rPr>
              <a:t>distilled facts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22208" y="4041648"/>
            <a:ext cx="306324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3000"/>
              </a:lnSpc>
            </a:pPr>
            <a:r>
              <a:rPr sz="1250" b="0">
                <a:solidFill>
                  <a:srgbClr val="C7D8E8"/>
                </a:solidFill>
                <a:latin typeface="Calibri"/>
              </a:rPr>
              <a:t>Durable preferences/facts — “you prefer metric units.”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532120"/>
            <a:ext cx="110642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5A623"/>
                </a:solidFill>
                <a:latin typeface="Calibri"/>
              </a:rPr>
              <a:t>→  </a:t>
            </a:r>
          </a:p>
          <a:p>
            <a:pPr algn="l">
              <a:lnSpc>
                <a:spcPct val="100000"/>
              </a:lnSpc>
            </a:pPr>
            <a:r>
              <a:rPr sz="1400" b="1">
                <a:solidFill>
                  <a:srgbClr val="1E293B"/>
                </a:solidFill>
                <a:latin typeface="Calibri"/>
              </a:rPr>
              <a:t>Good memory design is as much about forgetting as remembering.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02920" y="6419088"/>
            <a:ext cx="5943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078D4"/>
                </a:solidFill>
                <a:latin typeface="Calibri"/>
              </a:rPr>
              <a:t>Agentic AI Bootcamp   ·   JHF × COMCEC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5040" y="641908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4748B"/>
                </a:solidFill>
                <a:latin typeface="Calibri"/>
              </a:rPr>
              <a:t>Module 6 · Memory Systems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419088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0078D4"/>
                </a:solidFill>
                <a:latin typeface="Calibri"/>
              </a:rPr>
              <a:t>4 / 8</a:t>
            </a:r>
          </a:p>
        </p:txBody>
      </p:sp>
    </p:spTree>
    <p:extLst>
      <p:ext uri="{BB962C8B-B14F-4D97-AF65-F5344CB8AC3E}">
        <p14:creationId xmlns:p14="http://schemas.microsoft.com/office/powerpoint/2010/main" val="16837914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78D4"/>
                </a:solidFill>
                <a:latin typeface="Trebuchet MS"/>
              </a:rPr>
              <a:t>3 · POLICIES &amp; COST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49808"/>
            <a:ext cx="111556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2A47"/>
                </a:solidFill>
                <a:latin typeface="Trebuchet MS"/>
              </a:rPr>
              <a:t>What to remember — and not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5852160" cy="356616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5852160" cy="109728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214884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E2A47"/>
                </a:solidFill>
                <a:latin typeface="Trebuchet MS"/>
              </a:rPr>
              <a:t>The three policies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743200"/>
            <a:ext cx="164592" cy="164592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88720" y="2660904"/>
            <a:ext cx="5029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350" b="0">
                <a:solidFill>
                  <a:srgbClr val="1E293B"/>
                </a:solidFill>
                <a:latin typeface="Calibri"/>
              </a:rPr>
              <a:t>Write: store durable facts/preferences, not every token.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3310128"/>
            <a:ext cx="164592" cy="164592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88720" y="3227832"/>
            <a:ext cx="5029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350" b="0">
                <a:solidFill>
                  <a:srgbClr val="1E293B"/>
                </a:solidFill>
                <a:latin typeface="Calibri"/>
              </a:rPr>
              <a:t>Summarize: when to compress; what to keep verbatim.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3877056"/>
            <a:ext cx="164592" cy="164592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88720" y="3794760"/>
            <a:ext cx="5029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350" b="0">
                <a:solidFill>
                  <a:srgbClr val="1E293B"/>
                </a:solidFill>
                <a:latin typeface="Calibri"/>
              </a:rPr>
              <a:t>Evict/forget: TTL, staleness, deletion (privacy).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29400" y="1828800"/>
            <a:ext cx="5029200" cy="3566160"/>
          </a:xfrm>
          <a:prstGeom prst="round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629400" y="1828800"/>
            <a:ext cx="5029200" cy="10972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949440" y="2194560"/>
            <a:ext cx="4480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Trebuchet MS"/>
              </a:rPr>
              <a:t>Cost of context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2834640"/>
            <a:ext cx="44348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1300" b="1">
                <a:solidFill>
                  <a:srgbClr val="F5A623"/>
                </a:solidFill>
                <a:latin typeface="Calibri"/>
              </a:rPr>
              <a:t>•  </a:t>
            </a:r>
          </a:p>
          <a:p>
            <a:pPr algn="l">
              <a:lnSpc>
                <a:spcPct val="103000"/>
              </a:lnSpc>
            </a:pPr>
            <a:r>
              <a:rPr sz="1300" b="0">
                <a:solidFill>
                  <a:srgbClr val="C7D8E8"/>
                </a:solidFill>
                <a:latin typeface="Calibri"/>
              </a:rPr>
              <a:t>Every remembered token is recurring cost.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3438144"/>
            <a:ext cx="44348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1300" b="1">
                <a:solidFill>
                  <a:srgbClr val="F5A623"/>
                </a:solidFill>
                <a:latin typeface="Calibri"/>
              </a:rPr>
              <a:t>•  </a:t>
            </a:r>
          </a:p>
          <a:p>
            <a:pPr algn="l">
              <a:lnSpc>
                <a:spcPct val="103000"/>
              </a:lnSpc>
            </a:pPr>
            <a:r>
              <a:rPr sz="1300" b="0">
                <a:solidFill>
                  <a:srgbClr val="C7D8E8"/>
                </a:solidFill>
                <a:latin typeface="Calibri"/>
              </a:rPr>
              <a:t>Don’t store secrets/PII or transient noise.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4041648"/>
            <a:ext cx="44348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1300" b="1">
                <a:solidFill>
                  <a:srgbClr val="F5A623"/>
                </a:solidFill>
                <a:latin typeface="Calibri"/>
              </a:rPr>
              <a:t>•  </a:t>
            </a:r>
          </a:p>
          <a:p>
            <a:pPr algn="l">
              <a:lnSpc>
                <a:spcPct val="103000"/>
              </a:lnSpc>
            </a:pPr>
            <a:r>
              <a:rPr sz="1300" b="0">
                <a:solidFill>
                  <a:srgbClr val="C7D8E8"/>
                </a:solidFill>
                <a:latin typeface="Calibri"/>
              </a:rPr>
              <a:t>Timestamp &amp; decay stale memories.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4645152"/>
            <a:ext cx="44348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1300" b="1">
                <a:solidFill>
                  <a:srgbClr val="F5A623"/>
                </a:solidFill>
                <a:latin typeface="Calibri"/>
              </a:rPr>
              <a:t>•  </a:t>
            </a:r>
          </a:p>
          <a:p>
            <a:pPr algn="l">
              <a:lnSpc>
                <a:spcPct val="103000"/>
              </a:lnSpc>
            </a:pPr>
            <a:r>
              <a:rPr sz="1300" b="0">
                <a:solidFill>
                  <a:srgbClr val="C7D8E8"/>
                </a:solidFill>
                <a:latin typeface="Calibri"/>
              </a:rPr>
              <a:t>Summarization keeps the context bounded.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2920" y="6419088"/>
            <a:ext cx="5943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078D4"/>
                </a:solidFill>
                <a:latin typeface="Calibri"/>
              </a:rPr>
              <a:t>Agentic AI Bootcamp   ·   JHF × COMCEC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5040" y="641908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4748B"/>
                </a:solidFill>
                <a:latin typeface="Calibri"/>
              </a:rPr>
              <a:t>Module 6 · Memory Systems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419088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0078D4"/>
                </a:solidFill>
                <a:latin typeface="Calibri"/>
              </a:rPr>
              <a:t>5 / 8</a:t>
            </a:r>
          </a:p>
        </p:txBody>
      </p:sp>
    </p:spTree>
    <p:extLst>
      <p:ext uri="{BB962C8B-B14F-4D97-AF65-F5344CB8AC3E}">
        <p14:creationId xmlns:p14="http://schemas.microsoft.com/office/powerpoint/2010/main" val="16602613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5A623"/>
                </a:solidFill>
                <a:latin typeface="Trebuchet MS"/>
              </a:rPr>
              <a:t>HANDS-ON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68680"/>
            <a:ext cx="111556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Trebuchet MS"/>
              </a:rPr>
              <a:t>Personal Knowledge Assistant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500" b="0">
                <a:solidFill>
                  <a:srgbClr val="C7D8E8"/>
                </a:solidFill>
                <a:latin typeface="Calibri"/>
              </a:rPr>
              <a:t>Add short-term summarization + persistent long-term vector memory that recalls across a restart and cites its sources.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743200"/>
            <a:ext cx="11091672" cy="1234440"/>
          </a:xfrm>
          <a:prstGeom prst="roundRect">
            <a:avLst/>
          </a:prstGeom>
          <a:solidFill>
            <a:srgbClr val="143A5E"/>
          </a:solidFill>
          <a:ln w="19050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2907792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5A623"/>
                </a:solidFill>
                <a:latin typeface="Trebuchet MS"/>
              </a:rPr>
              <a:t>DEFINITION OF DONE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246120"/>
            <a:ext cx="105156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350" b="0">
                <a:solidFill>
                  <a:srgbClr val="FFFFFF"/>
                </a:solidFill>
                <a:latin typeface="Calibri"/>
              </a:rPr>
              <a:t>Store a preference in Run 1; after a process RESTART, Run 2 recalls it, answers in metric, and cites the stored memory — context stays bounded.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297680"/>
            <a:ext cx="5394960" cy="914400"/>
          </a:xfrm>
          <a:prstGeom prst="roundRect">
            <a:avLst/>
          </a:prstGeom>
          <a:solidFill>
            <a:srgbClr val="143A5E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777240" y="4544568"/>
            <a:ext cx="411480" cy="41148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00" b="1">
                <a:solidFill>
                  <a:srgbClr val="0E2A47"/>
                </a:solidFill>
                <a:latin typeface="Trebuchet MS"/>
              </a:rPr>
              <a:t>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434840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Consolas"/>
              </a:rPr>
              <a:t>M6-Lab-Worksheet.md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773168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C7D8E8"/>
                </a:solidFill>
                <a:latin typeface="Calibri"/>
              </a:rPr>
              <a:t>Step-by-step instructions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45352" y="4297680"/>
            <a:ext cx="5394960" cy="914400"/>
          </a:xfrm>
          <a:prstGeom prst="roundRect">
            <a:avLst/>
          </a:prstGeom>
          <a:solidFill>
            <a:srgbClr val="143A5E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473952" y="4544568"/>
            <a:ext cx="411480" cy="41148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00" b="1">
                <a:solidFill>
                  <a:srgbClr val="0E2A47"/>
                </a:solidFill>
                <a:latin typeface="Trebuchet MS"/>
              </a:rPr>
              <a:t>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68312" y="4434840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Consolas"/>
              </a:rPr>
              <a:t>starter-code/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68312" y="4773168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C7D8E8"/>
                </a:solidFill>
                <a:latin typeface="Calibri"/>
              </a:rPr>
              <a:t>memory_agent_starter.py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19088"/>
            <a:ext cx="5943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8C3D4"/>
                </a:solidFill>
                <a:latin typeface="Calibri"/>
              </a:rPr>
              <a:t>Agentic AI Bootcamp   ·   JHF × COMCEC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0" y="641908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7E97AE"/>
                </a:solidFill>
                <a:latin typeface="Calibri"/>
              </a:rPr>
              <a:t>Module 6 · Memory Systems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19088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18C3D4"/>
                </a:solidFill>
                <a:latin typeface="Calibri"/>
              </a:rPr>
              <a:t>6 / 8</a:t>
            </a:r>
          </a:p>
        </p:txBody>
      </p:sp>
    </p:spTree>
    <p:extLst>
      <p:ext uri="{BB962C8B-B14F-4D97-AF65-F5344CB8AC3E}">
        <p14:creationId xmlns:p14="http://schemas.microsoft.com/office/powerpoint/2010/main" val="23408269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78D4"/>
                </a:solidFill>
                <a:latin typeface="Trebuchet MS"/>
              </a:rPr>
              <a:t>REFERENCE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49808"/>
            <a:ext cx="111556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2A47"/>
                </a:solidFill>
                <a:latin typeface="Trebuchet MS"/>
              </a:rPr>
              <a:t>Key terms to take away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74519"/>
            <a:ext cx="3611880" cy="201168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04672" y="2130552"/>
            <a:ext cx="502920" cy="502920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Trebuchet MS"/>
              </a:rPr>
              <a:t>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194560"/>
            <a:ext cx="2560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E2A47"/>
                </a:solidFill>
                <a:latin typeface="Trebuchet MS"/>
              </a:rPr>
              <a:t>Conversation buffer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834639"/>
            <a:ext cx="30632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1200" b="0">
                <a:solidFill>
                  <a:srgbClr val="1E293B"/>
                </a:solidFill>
                <a:latin typeface="Calibri"/>
              </a:rPr>
              <a:t>Recent turns held in context.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98264" y="1874519"/>
            <a:ext cx="3611880" cy="201168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4654296" y="2130552"/>
            <a:ext cx="502920" cy="502920"/>
          </a:xfrm>
          <a:prstGeom prst="ellipse">
            <a:avLst/>
          </a:prstGeom>
          <a:solidFill>
            <a:srgbClr val="18C3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Trebuchet MS"/>
              </a:rPr>
              <a:t>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12664" y="2194560"/>
            <a:ext cx="2560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E2A47"/>
                </a:solidFill>
                <a:latin typeface="Trebuchet MS"/>
              </a:rPr>
              <a:t>Summarization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72583" y="2834639"/>
            <a:ext cx="30632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1200" b="0">
                <a:solidFill>
                  <a:srgbClr val="1E293B"/>
                </a:solidFill>
                <a:latin typeface="Calibri"/>
              </a:rPr>
              <a:t>Compressing old turns to bound context.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47888" y="1874519"/>
            <a:ext cx="3611880" cy="201168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503919" y="2130552"/>
            <a:ext cx="502920" cy="50292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Trebuchet MS"/>
              </a:rPr>
              <a:t>▪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62288" y="2194560"/>
            <a:ext cx="2560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E2A47"/>
                </a:solidFill>
                <a:latin typeface="Trebuchet MS"/>
              </a:rPr>
              <a:t>Embedding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22208" y="2834639"/>
            <a:ext cx="30632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1200" b="0">
                <a:solidFill>
                  <a:srgbClr val="1E293B"/>
                </a:solidFill>
                <a:latin typeface="Calibri"/>
              </a:rPr>
              <a:t>Vector representation of text by meaning.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114800"/>
            <a:ext cx="3611880" cy="201168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04672" y="4370832"/>
            <a:ext cx="502920" cy="502920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Trebuchet MS"/>
              </a:rPr>
              <a:t>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434840"/>
            <a:ext cx="2560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E2A47"/>
                </a:solidFill>
                <a:latin typeface="Trebuchet MS"/>
              </a:rPr>
              <a:t>Vector store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" y="5074920"/>
            <a:ext cx="30632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1200" b="0">
                <a:solidFill>
                  <a:srgbClr val="1E293B"/>
                </a:solidFill>
                <a:latin typeface="Calibri"/>
              </a:rPr>
              <a:t>DB of memory vectors for similarity retrieval.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98264" y="4114800"/>
            <a:ext cx="3611880" cy="201168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4654296" y="4370832"/>
            <a:ext cx="502920" cy="502920"/>
          </a:xfrm>
          <a:prstGeom prst="ellipse">
            <a:avLst/>
          </a:prstGeom>
          <a:solidFill>
            <a:srgbClr val="18C3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Trebuchet MS"/>
              </a:rPr>
              <a:t>▪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12664" y="4434840"/>
            <a:ext cx="2560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E2A47"/>
                </a:solidFill>
                <a:latin typeface="Trebuchet MS"/>
              </a:rPr>
              <a:t>Top-k retrieval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72583" y="5074920"/>
            <a:ext cx="30632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1200" b="0">
                <a:solidFill>
                  <a:srgbClr val="1E293B"/>
                </a:solidFill>
                <a:latin typeface="Calibri"/>
              </a:rPr>
              <a:t>Fetching the k most relevant memories.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47888" y="4114800"/>
            <a:ext cx="3611880" cy="201168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8503919" y="4370832"/>
            <a:ext cx="502920" cy="50292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Trebuchet MS"/>
              </a:rPr>
              <a:t>▪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62288" y="4434840"/>
            <a:ext cx="2560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E2A47"/>
                </a:solidFill>
                <a:latin typeface="Trebuchet MS"/>
              </a:rPr>
              <a:t>Write/evict policy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22208" y="5074920"/>
            <a:ext cx="30632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1200" b="0">
                <a:solidFill>
                  <a:srgbClr val="1E293B"/>
                </a:solidFill>
                <a:latin typeface="Calibri"/>
              </a:rPr>
              <a:t>What to store / what to forget.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02920" y="6419088"/>
            <a:ext cx="5943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078D4"/>
                </a:solidFill>
                <a:latin typeface="Calibri"/>
              </a:rPr>
              <a:t>Agentic AI Bootcamp   ·   JHF × COMCEC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35040" y="641908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4748B"/>
                </a:solidFill>
                <a:latin typeface="Calibri"/>
              </a:rPr>
              <a:t>Module 6 · Memory Systems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0" y="6419088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0078D4"/>
                </a:solidFill>
                <a:latin typeface="Calibri"/>
              </a:rPr>
              <a:t>7 / 8</a:t>
            </a:r>
          </a:p>
        </p:txBody>
      </p:sp>
    </p:spTree>
    <p:extLst>
      <p:ext uri="{BB962C8B-B14F-4D97-AF65-F5344CB8AC3E}">
        <p14:creationId xmlns:p14="http://schemas.microsoft.com/office/powerpoint/2010/main" val="25908110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8C3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8C3D4"/>
                </a:solidFill>
                <a:latin typeface="Trebuchet MS"/>
              </a:rPr>
              <a:t>CHECK YOURSELF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68680"/>
            <a:ext cx="111556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Trebuchet MS"/>
              </a:rPr>
              <a:t>Quick Quiz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1920240"/>
            <a:ext cx="457200" cy="457200"/>
          </a:xfrm>
          <a:prstGeom prst="ellipse">
            <a:avLst/>
          </a:prstGeom>
          <a:solidFill>
            <a:srgbClr val="18C3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700" b="1">
                <a:solidFill>
                  <a:srgbClr val="0E2A47"/>
                </a:solidFill>
                <a:latin typeface="Trebuchet M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938528"/>
            <a:ext cx="1024128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FFFFFF"/>
                </a:solidFill>
                <a:latin typeface="Calibri"/>
              </a:rPr>
              <a:t>What problem does summarization solve in short-term memory?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2578608"/>
            <a:ext cx="457200" cy="457200"/>
          </a:xfrm>
          <a:prstGeom prst="ellipse">
            <a:avLst/>
          </a:prstGeom>
          <a:solidFill>
            <a:srgbClr val="18C3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700" b="1">
                <a:solidFill>
                  <a:srgbClr val="0E2A47"/>
                </a:solidFill>
                <a:latin typeface="Trebuchet MS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2596896"/>
            <a:ext cx="1024128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FFFFFF"/>
                </a:solidFill>
                <a:latin typeface="Calibri"/>
              </a:rPr>
              <a:t>Describe the write and read paths of long-term vector memory.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3236976"/>
            <a:ext cx="457200" cy="457200"/>
          </a:xfrm>
          <a:prstGeom prst="ellipse">
            <a:avLst/>
          </a:prstGeom>
          <a:solidFill>
            <a:srgbClr val="18C3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700" b="1">
                <a:solidFill>
                  <a:srgbClr val="0E2A47"/>
                </a:solidFill>
                <a:latin typeface="Trebuchet MS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3255264"/>
            <a:ext cx="1024128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FFFFFF"/>
                </a:solidFill>
                <a:latin typeface="Calibri"/>
              </a:rPr>
              <a:t>What makes long-term memory durable across runs?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3895344"/>
            <a:ext cx="457200" cy="457200"/>
          </a:xfrm>
          <a:prstGeom prst="ellipse">
            <a:avLst/>
          </a:prstGeom>
          <a:solidFill>
            <a:srgbClr val="18C3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700" b="1">
                <a:solidFill>
                  <a:srgbClr val="0E2A47"/>
                </a:solidFill>
                <a:latin typeface="Trebuchet MS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3913631"/>
            <a:ext cx="1024128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FFFFFF"/>
                </a:solidFill>
                <a:latin typeface="Calibri"/>
              </a:rPr>
              <a:t>Distinguish working, episodic, and semantic memory.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4553712"/>
            <a:ext cx="457200" cy="457200"/>
          </a:xfrm>
          <a:prstGeom prst="ellipse">
            <a:avLst/>
          </a:prstGeom>
          <a:solidFill>
            <a:srgbClr val="18C3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700" b="1">
                <a:solidFill>
                  <a:srgbClr val="0E2A47"/>
                </a:solidFill>
                <a:latin typeface="Trebuchet MS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571999"/>
            <a:ext cx="1024128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FFFFFF"/>
                </a:solidFill>
                <a:latin typeface="Calibri"/>
              </a:rPr>
              <a:t>Name the three memory policies you must design.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623560"/>
            <a:ext cx="11091672" cy="548640"/>
          </a:xfrm>
          <a:prstGeom prst="roundRect">
            <a:avLst/>
          </a:prstGeom>
          <a:solidFill>
            <a:srgbClr val="143A5E"/>
          </a:solidFill>
          <a:ln w="12700">
            <a:solidFill>
              <a:srgbClr val="18C3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" y="566928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8C3D4"/>
                </a:solidFill>
                <a:latin typeface="Calibri"/>
              </a:rPr>
              <a:t>Next:   </a:t>
            </a:r>
          </a:p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Module 7 — Multi-Agent Foundations with CrewAI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19088"/>
            <a:ext cx="5943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8C3D4"/>
                </a:solidFill>
                <a:latin typeface="Calibri"/>
              </a:rPr>
              <a:t>Agentic AI Bootcamp   ·   JHF × COMCEC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0" y="641908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7E97AE"/>
                </a:solidFill>
                <a:latin typeface="Calibri"/>
              </a:rPr>
              <a:t>Module 6 · Memory Systems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19088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18C3D4"/>
                </a:solidFill>
                <a:latin typeface="Calibri"/>
              </a:rPr>
              <a:t>8 / 8</a:t>
            </a:r>
          </a:p>
        </p:txBody>
      </p:sp>
    </p:spTree>
    <p:extLst>
      <p:ext uri="{BB962C8B-B14F-4D97-AF65-F5344CB8AC3E}">
        <p14:creationId xmlns:p14="http://schemas.microsoft.com/office/powerpoint/2010/main" val="40416252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634</Words>
  <Application>Microsoft Office PowerPoint</Application>
  <PresentationFormat>Custom</PresentationFormat>
  <Paragraphs>135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Aptos</vt:lpstr>
      <vt:lpstr>Aptos Display</vt:lpstr>
      <vt:lpstr>Arial</vt:lpstr>
      <vt:lpstr>Calibri</vt:lpstr>
      <vt:lpstr>Consolas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Alaaldin Ahmed</dc:creator>
  <cp:lastModifiedBy>Alaaldin Ahmed</cp:lastModifiedBy>
  <cp:revision>1</cp:revision>
  <dcterms:created xsi:type="dcterms:W3CDTF">2026-07-31T12:56:08Z</dcterms:created>
  <dcterms:modified xsi:type="dcterms:W3CDTF">2026-07-31T12:56:08Z</dcterms:modified>
</cp:coreProperties>
</file>