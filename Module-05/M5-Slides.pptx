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364B-36DE-2E46-69AA-B36ABD3EC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222F6-1C40-37AB-0FD4-36F71ED5C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5111-4AB0-E82B-3D67-79EA031D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A748-DC70-EE69-82F0-3718263B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48E3-559D-6CCF-1BF6-4B46DA6E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35ED-329D-59D1-DF7D-77CEE31B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B22C-7073-9824-3FA8-C66C668A3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C43CF-9E69-A99D-15D2-01F95D9B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5A755-6268-FCB2-5094-191EFAF5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F493C-D245-54A6-3969-0DAC19B5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3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EFF3-2681-1841-7284-4976C6B6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E67C4-F8BF-0253-F7BA-939481930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200C8-F7D0-10FC-F21D-DF93CF66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03E78-B110-84A5-94AF-B20D2CE5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5CE20-91AC-E7A9-B827-08033BFD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C9F0-968B-590B-18D0-7FDB1119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9AE7-E49D-CF83-B2C0-0B85FAF9B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D6AB8-BD67-7681-74A4-7C2D9D7F0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6AAF6-B425-A71F-03E2-FDD2057E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335E6-FFD3-3B0C-E68E-832273453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6838D-1D06-05DA-347A-920C5FFF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ACEF-B174-0093-07A7-06A4370F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2B5D2-3422-09AB-CDF1-9B3442697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53E5E-A730-99A7-0A8D-2C5DDF4BD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72016-E527-C4C4-ECD7-B3BCA7650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29551-8783-5278-BE48-96DFA63E8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292C5-DE82-F693-B84F-8B5765306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2777B-09EA-E85A-2C80-9D9232104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AF89F-5148-23FA-BC0E-B55AFDDF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3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53F3-C1A5-0611-5C84-6D82F5A0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643A1-CF4F-11B8-F9BB-269C93A1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77256-11DE-4F00-4976-3C72B4CDB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4F018-A56A-02C5-5590-0D141CA7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D1F42-65FD-7E41-656F-881F2A74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5198F-3668-34FA-2BF8-568DBBDB5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451D9-94F4-7E69-5E70-8774247B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1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DE23-86FB-8C49-AC09-E1D5F58A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E4A96-CA81-2FA4-8DA6-39A9BD1A4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CB4E7-BDD7-8569-3844-1417A27B3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7173C-F744-8DAF-A0AC-9927C284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77FFD-BE05-6E9A-E64F-29E464E1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D2934-B956-A82C-5118-47523FCC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891D-AECB-FFCD-5ACC-1BAAC090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819F3-0A9F-2650-31FC-4DDAEAA3C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F5E1D-D752-DF71-3A04-8B998B572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52F48-6DA6-832D-70F2-E720B38F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F1386-7C1B-3E76-C971-58FB2DC4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89A56-89BE-0062-4A4A-009CAED0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8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C344-56B0-E8E9-21E4-B29BADBA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372D7-14D1-4712-B242-B7CE67E27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40A34-3A97-21DB-090B-69A9ECD2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D8106-BED1-D20B-2F71-BC6C7AD7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2A033-7C20-9322-C315-B3B6CB8A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9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A6D90-9ED9-C70C-1643-D8EBAA873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D1A17-F04A-D359-9300-8458F8DBA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BDAB9-19D0-FFB3-37E4-29D0B01B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1CA75-7A3F-BA9D-D715-A7CB0165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AED7A-F779-023F-BC6D-18149DF2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1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769AD-7CDA-E0F5-AFD0-049B464D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A2D7C-128C-B6F5-D485-C5E7F1808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340DC-9C77-E0C9-AC64-76345CB97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3E138-D8CC-455C-9E74-002E50B38E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F4742-434E-E988-13F8-CEF130ABF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3F902-3058-19C3-DA6B-0D7D53FE2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ED491-D787-4EA7-8CE4-A9039F9C3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9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nut 4"/>
          <p:cNvSpPr/>
          <p:nvPr/>
        </p:nvSpPr>
        <p:spPr>
          <a:xfrm>
            <a:off x="822960" y="2468880"/>
            <a:ext cx="2560320" cy="2560320"/>
          </a:xfrm>
          <a:prstGeom prst="donut">
            <a:avLst>
              <a:gd name="adj" fmla="val 12000"/>
            </a:avLst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594360"/>
            <a:ext cx="4206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h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77824"/>
            <a:ext cx="1645920" cy="2565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97480" y="777240"/>
            <a:ext cx="10972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ce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749808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7160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C3D4"/>
                </a:solidFill>
                <a:latin typeface="Trebuchet MS"/>
              </a:rPr>
              <a:t>PHASE 3 · TOOL USE, INTEGRATIONS &amp;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7223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Tools, APIs &amp;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7D8E8"/>
                </a:solidFill>
                <a:latin typeface="Calibri"/>
              </a:rPr>
              <a:t>Connect the agent to the real world: robust tools, real APIs, and the Model Context Protocol — build an MCP server and consume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24528"/>
            <a:ext cx="3108960" cy="320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Module 5  ·  5 hours  ·  Build an MCP server +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4406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97AE"/>
                </a:solidFill>
                <a:latin typeface="Calibri"/>
              </a:rPr>
              <a:t>Lead Trainers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6509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Alaaldin Ahmed   ·   Mohammed Abu Alhalaweih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9893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E97AE"/>
                </a:solidFill>
                <a:latin typeface="Calibri"/>
              </a:rPr>
              <a:t>Jerusalem High-Tech Foundry (JHF)  ·  In partnership with COMCEC</a:t>
            </a:r>
          </a:p>
        </p:txBody>
      </p:sp>
    </p:spTree>
    <p:extLst>
      <p:ext uri="{BB962C8B-B14F-4D97-AF65-F5344CB8AC3E}">
        <p14:creationId xmlns:p14="http://schemas.microsoft.com/office/powerpoint/2010/main" val="75355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After this module, you can…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868680" cy="8686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Design robust tools: typed inputs, validation, clear errors, idempotency.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56248" y="2194560"/>
            <a:ext cx="868680" cy="86868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Integrate a real external API (rate limits, timeouts, auth, failures).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97763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Explain MCP architecture: servers, tools/resources, transport, client–server.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56248" y="3977639"/>
            <a:ext cx="868680" cy="86868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Build a custom MCP server and consume it from an agent as an MCP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70083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1 · MCP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Agent ↔ tools over a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33172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30452" y="2395728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MCP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the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8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9480" y="2194560"/>
            <a:ext cx="233172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41292" y="2395728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92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92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list / call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32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70320" y="2194560"/>
            <a:ext cx="233172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52132" y="2395728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tools +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204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2194560"/>
            <a:ext cx="2331720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62972" y="2395728"/>
            <a:ext cx="768096" cy="7680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APIs /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the real 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MCP standardizes how an agent discovers &amp; calls tools — write it once, reuse anywhere.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5604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Server holds the secrets; the agent never sees raw API keys.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270722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2 · TOOL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Bad tools = unreliable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{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Typed + described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the model reads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Clear schema + description — it’s part of the prompt the model selects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1828800"/>
            <a:ext cx="361188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15583" y="2148840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no crashes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Reject bad args with a clear message; return structured errors, don’t throw.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828800"/>
            <a:ext cx="3611880" cy="34290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1828800"/>
            <a:ext cx="361188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65208" y="2148840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Least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CE8F4"/>
                </a:solidFill>
                <a:latin typeface="Calibri"/>
              </a:rPr>
              <a:t>scoped + 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C7D8E8"/>
                </a:solidFill>
                <a:latin typeface="Calibri"/>
              </a:rPr>
              <a:t>One clear capability per tool; secrets server-side; treat output as untrusted.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MCP = agent↔tools. A2A (M9) = agent↔agent. Different layers — don’t conflate.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2175611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3 · REAL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Engineer for misbehavior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852160" cy="35661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8521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Trebuchet MS"/>
              </a:rPr>
              <a:t>APIs break — plan for 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43200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Auth: keys via env/secrets, never hardcoded.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2783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Rate limits: back off &amp; retry on 429.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77056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Timeouts: always set one — a hung tool hangs the agent.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43984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36168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Map errors to clean observations.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5029200" cy="35661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1828800"/>
            <a:ext cx="50292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1945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Security of tool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83464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Least privilege — expose only what’s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438144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Secrets stay server-side.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416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Tool/search results = untrusted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64515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Validate args at the server boundary too.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343340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Trebuchet MS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Custom MCP server + LangGraph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C7D8E8"/>
                </a:solidFill>
                <a:latin typeface="Calibri"/>
              </a:rPr>
              <a:t>Build an MCP server exposing web_search and read_data with typed schemas, validation, and timeouts; then a LangGraph agent that calls them live via MCP.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1672" cy="1234440"/>
          </a:xfrm>
          <a:prstGeom prst="roundRect">
            <a:avLst/>
          </a:prstGeom>
          <a:solidFill>
            <a:srgbClr val="143A5E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A623"/>
                </a:solidFill>
                <a:latin typeface="Trebuchet MS"/>
              </a:rP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The agent answers “capital of country ‘JO’ + one recent headline” by calling both tools THROUGH MCP — not a local import.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M5-Lab-Worksheet.md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3952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starter-code/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mcp_server + client stubs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68755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Key terms to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An action capability the agent can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54296" y="213055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3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Readable data exposed to the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19" y="213055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Exposes tools/resources; wraps APIs; holds secrets.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MCP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agent that discovers and calls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437083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channel between client and server (stdio/HTTP).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437083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Untrusted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Tool/API results treated as data, never instructions.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323963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C3D4"/>
                </a:solidFill>
                <a:latin typeface="Trebuchet MS"/>
              </a:rPr>
              <a:t>CHECK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Quick Quiz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Name three properties of a well-designed tool.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96896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Why is the tool description important to the model?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5526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In MCP, what’s the difference between a server and a client?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13631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MCP vs A2A — one line each.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53712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7199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Why should API keys live in the MCP server, not the agent?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091672" cy="548640"/>
          </a:xfrm>
          <a:prstGeom prst="roundRect">
            <a:avLst/>
          </a:prstGeom>
          <a:solidFill>
            <a:srgbClr val="143A5E"/>
          </a:solidFill>
          <a:ln w="12700">
            <a:solidFill>
              <a:srgbClr val="18C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Next:   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Module 6 — Memory Systems: Short &amp; Long-Term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5 · Tools, APIs &amp;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244335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Custom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Alaaldin Ahmed</dc:creator>
  <cp:lastModifiedBy>Alaaldin Ahmed</cp:lastModifiedBy>
  <cp:revision>1</cp:revision>
  <dcterms:created xsi:type="dcterms:W3CDTF">2026-07-31T12:56:05Z</dcterms:created>
  <dcterms:modified xsi:type="dcterms:W3CDTF">2026-07-31T12:56:05Z</dcterms:modified>
</cp:coreProperties>
</file>